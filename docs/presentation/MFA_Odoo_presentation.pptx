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image" Target="../media/image-29-5.png"/><Relationship Id="rId6" Type="http://schemas.openxmlformats.org/officeDocument/2006/relationships/image" Target="../media/image-2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D1F2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7724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RAPPORT DE PROJET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188720"/>
            <a:ext cx="5303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Authentification forte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(MFA) dans un SMSI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Odoo avec certificats X.509 et TOTP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5394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 Souid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Tek-Up : École Supérieure Privée de Technologie &amp; Ingénierie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CII-5-J-SSIRF-D · Année 2026-2027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777240"/>
            <a:ext cx="960120" cy="960120"/>
          </a:xfrm>
          <a:prstGeom prst="ellipse">
            <a:avLst/>
          </a:prstGeom>
          <a:solidFill>
            <a:srgbClr val="7B5EC4"/>
          </a:solidFill>
          <a:ln w="25400">
            <a:solidFill>
              <a:srgbClr val="C9B3F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38544" y="1014984"/>
            <a:ext cx="484632" cy="48463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498080" y="10515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X.509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0" y="2057400"/>
            <a:ext cx="960120" cy="960120"/>
          </a:xfrm>
          <a:prstGeom prst="ellipse">
            <a:avLst/>
          </a:prstGeom>
          <a:solidFill>
            <a:srgbClr val="7B5EC4"/>
          </a:solidFill>
          <a:ln w="25400">
            <a:solidFill>
              <a:srgbClr val="C9B3F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95144"/>
            <a:ext cx="484632" cy="4846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3317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0" y="3337560"/>
            <a:ext cx="960120" cy="960120"/>
          </a:xfrm>
          <a:prstGeom prst="ellipse">
            <a:avLst/>
          </a:prstGeom>
          <a:solidFill>
            <a:srgbClr val="7B5EC4"/>
          </a:solidFill>
          <a:ln w="25400">
            <a:solidFill>
              <a:srgbClr val="C9B3F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3575304"/>
            <a:ext cx="484632" cy="4846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498080" y="3611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TOTP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880860" y="1737360"/>
            <a:ext cx="0" cy="320040"/>
          </a:xfrm>
          <a:prstGeom prst="line">
            <a:avLst/>
          </a:prstGeom>
          <a:noFill/>
          <a:ln w="19050">
            <a:solidFill>
              <a:srgbClr val="C9B3F5"/>
            </a:solidFill>
            <a:prstDash val="dash"/>
          </a:ln>
        </p:spPr>
      </p:sp>
      <p:sp>
        <p:nvSpPr>
          <p:cNvPr id="17" name="Shape 12"/>
          <p:cNvSpPr/>
          <p:nvPr/>
        </p:nvSpPr>
        <p:spPr>
          <a:xfrm>
            <a:off x="6880860" y="3017520"/>
            <a:ext cx="0" cy="320040"/>
          </a:xfrm>
          <a:prstGeom prst="line">
            <a:avLst/>
          </a:prstGeom>
          <a:noFill/>
          <a:ln w="19050">
            <a:solidFill>
              <a:srgbClr val="C9B3F5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3258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234440" y="1417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246120" y="13258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55448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42900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023360" y="1417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Notions clés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035040" y="132588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179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812280" y="141732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 de test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57200" y="24231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234440" y="2514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et conception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246120" y="24231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429000" y="265176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4290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023360" y="2514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035040" y="24231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17920" y="265176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1792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812280" y="251460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et validation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457200" y="35204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40080" y="374904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4008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1234440" y="3611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ISO/IEC 27001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3246120" y="35204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429000" y="374904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34290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4023360" y="3611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035040" y="35204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217920" y="374904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21792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6812280" y="361188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mot de passe seul ne suffit plus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8463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applications d’entreprise concentrent des données sensibles : clients, finances, ressources humaines.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un SMSI, la confidentialité repose d’abord sur la fiabilité de l’authentification.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mot de passe peut être deviné, réutilisé, volé par hameçonnage ou capté par un logiciel espion.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669280" y="1234440"/>
            <a:ext cx="3017520" cy="3246120"/>
          </a:xfrm>
          <a:prstGeom prst="roundRect">
            <a:avLst>
              <a:gd name="adj" fmla="val 3636"/>
            </a:avLst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41732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→ 3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23317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d’authentification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989320" y="3017520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154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852160" y="3639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903720" y="3017520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1546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3639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818120" y="3017520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315468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80960" y="363931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" y="16687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08760" y="1435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obligatoire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1508760" y="1828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Imposer un certificat client valide avant tout accès (mTLS).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12344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2060" y="1668780"/>
            <a:ext cx="320040" cy="32004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15000" y="143560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lié à un compte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0" y="18288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Contrôler son état : actif, suspendu, révoqué, expiré.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685800" y="315468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" y="331470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50876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et TOTP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1508760" y="3474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Conserver le contrôle natif d’Odoo et activer le second facteur.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892040" y="315468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2060" y="331470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715000" y="30815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5715000" y="3474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les refus dans les journaux et démontrer chaque scénario par un test.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Notions clés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5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SMSI et ISO/IEC 27001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1907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Politiques, processus et mesures pour gérer les risques sur l’information. Édition 2022 : 93 mesures en Annexe A. Contrôle visé : A.8.5 Authentification sécurisée.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5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892040" y="171907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moins deux facteurs de catégories différentes : connaissance, possession, inhérence (non utilisée ici).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5720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5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X.509 et PKI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" y="34564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CA signe le certificat, qui lie une clé publique à une identité. La CRL liste les certificats révoqués. Avec mTLS, le client présente aussi un certificat.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4663440" y="292608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9204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5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(RFC 6238)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892040" y="3456432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à six chiffres calculé à partir d’un secret partagé et de l’heure, par pas de 30 secondes.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Environnement de test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68680" y="1417320"/>
            <a:ext cx="731520" cy="7315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6002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RHEL 9.5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566928" y="2697480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odoo-mfa-server : héberge tous les services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2103120" y="12344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514600" y="1417320"/>
            <a:ext cx="731520" cy="7315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16002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219456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1.20.1</a:t>
            </a:r>
            <a:endParaRPr lang="en-US" sz="1350" dirty="0"/>
          </a:p>
        </p:txBody>
      </p:sp>
      <p:sp>
        <p:nvSpPr>
          <p:cNvPr id="16" name="Text 11"/>
          <p:cNvSpPr txBox="1"/>
          <p:nvPr/>
        </p:nvSpPr>
        <p:spPr>
          <a:xfrm>
            <a:off x="2212848" y="2697480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d’entrée unique, TLS et mTLS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49040" y="12344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4160520" y="1417320"/>
            <a:ext cx="731520" cy="7315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60020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4048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Podman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3858768" y="2697480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Conteneurs odoo (Odoo 18) et odoo-db (PostgreSQL, base odoo_mfa)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394960" y="12344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806440" y="1417320"/>
            <a:ext cx="731520" cy="7315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9320" y="160020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48640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interne</a:t>
            </a:r>
            <a:endParaRPr lang="en-US" sz="1350" dirty="0"/>
          </a:p>
        </p:txBody>
      </p:sp>
      <p:sp>
        <p:nvSpPr>
          <p:cNvPr id="26" name="Text 19"/>
          <p:cNvSpPr txBox="1"/>
          <p:nvPr/>
        </p:nvSpPr>
        <p:spPr>
          <a:xfrm>
            <a:off x="5504688" y="2697480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sous /opt/odoo-mfa/pki, CA « Odoo MFA Root CA »</a:t>
            </a:r>
            <a:endParaRPr lang="en-US" sz="1100" dirty="0"/>
          </a:p>
        </p:txBody>
      </p:sp>
      <p:sp>
        <p:nvSpPr>
          <p:cNvPr id="27" name="Shape 20"/>
          <p:cNvSpPr/>
          <p:nvPr/>
        </p:nvSpPr>
        <p:spPr>
          <a:xfrm>
            <a:off x="7040880" y="1234440"/>
            <a:ext cx="1554480" cy="2743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7452360" y="1417320"/>
            <a:ext cx="731520" cy="7315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600200"/>
            <a:ext cx="365760" cy="36576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7132320" y="2286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Windows</a:t>
            </a:r>
            <a:endParaRPr lang="en-US" sz="1350" dirty="0"/>
          </a:p>
        </p:txBody>
      </p:sp>
      <p:sp>
        <p:nvSpPr>
          <p:cNvPr id="31" name="Text 23"/>
          <p:cNvSpPr txBox="1"/>
          <p:nvPr/>
        </p:nvSpPr>
        <p:spPr>
          <a:xfrm>
            <a:off x="7150608" y="2697480"/>
            <a:ext cx="1335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certificat client importé (.p12)</a:t>
            </a:r>
            <a:endParaRPr lang="en-US" sz="1100" dirty="0"/>
          </a:p>
        </p:txBody>
      </p:sp>
      <p:sp>
        <p:nvSpPr>
          <p:cNvPr id="32" name="Text 2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machine virtuelle, un seul point d’entrée : Nginx.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: trois contrôles successifs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1280160"/>
            <a:ext cx="16459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B638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5488" y="135331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 Windows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75488" y="1664208"/>
            <a:ext cx="142646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client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TOTP (téléphone)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68880" y="1280160"/>
            <a:ext cx="18288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6B638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578608" y="135331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Nginx 1.20.1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2578608" y="1664208"/>
            <a:ext cx="16093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Terminaison TLS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obligatoire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CA et CRL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redirigé en HTTPS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754880" y="1280160"/>
            <a:ext cx="2011680" cy="1600200"/>
          </a:xfrm>
          <a:prstGeom prst="roundRect">
            <a:avLst>
              <a:gd name="adj" fmla="val 5714"/>
            </a:avLst>
          </a:prstGeom>
          <a:solidFill>
            <a:srgbClr val="EDE6FA"/>
          </a:solidFill>
          <a:ln w="28575">
            <a:solidFill>
              <a:srgbClr val="7B5E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64608" y="1353312"/>
            <a:ext cx="1792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Odoo 18 + module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4864608" y="1664208"/>
            <a:ext cx="17922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enregistrée, état actif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fin non dépassée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du compte connecté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passe, puis TOTP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223760" y="1280160"/>
            <a:ext cx="1554480" cy="160020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6B638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33488" y="1353312"/>
            <a:ext cx="1335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33488" y="1664208"/>
            <a:ext cx="133502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odoo_mfa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mfa_user_certificate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011680" y="2075688"/>
            <a:ext cx="457200" cy="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20" name="Text 17"/>
          <p:cNvSpPr txBox="1"/>
          <p:nvPr/>
        </p:nvSpPr>
        <p:spPr>
          <a:xfrm>
            <a:off x="201168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297680" y="2075688"/>
            <a:ext cx="457200" cy="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22" name="Text 19"/>
          <p:cNvSpPr txBox="1"/>
          <p:nvPr/>
        </p:nvSpPr>
        <p:spPr>
          <a:xfrm>
            <a:off x="429768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766560" y="2075688"/>
            <a:ext cx="457200" cy="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6766560" y="1828800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2468880" y="361188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6B6385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578608" y="3685032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PKI interne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2578608" y="399592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Odoo MFA Root CA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révocation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 flipV="1">
            <a:off x="3383280" y="2880360"/>
            <a:ext cx="0" cy="73152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474720" y="310896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+ CRL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1188720" y="4069080"/>
            <a:ext cx="1280160" cy="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V="1">
            <a:off x="1188720" y="2880360"/>
            <a:ext cx="0" cy="118872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32" name="Text 29"/>
          <p:cNvSpPr txBox="1"/>
          <p:nvPr/>
        </p:nvSpPr>
        <p:spPr>
          <a:xfrm>
            <a:off x="1234440" y="411480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 le certificat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4754880" y="3383280"/>
            <a:ext cx="3931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contrôle le certificat, le module Odoo l’autorise, Odoo contrôle le mot de passe et le TOTP.</a:t>
            </a:r>
            <a:endParaRPr lang="en-US" sz="1300" dirty="0"/>
          </a:p>
        </p:txBody>
      </p:sp>
      <p:sp>
        <p:nvSpPr>
          <p:cNvPr id="34" name="Text 31"/>
          <p:cNvSpPr txBox="1"/>
          <p:nvPr/>
        </p:nvSpPr>
        <p:spPr>
          <a:xfrm>
            <a:off x="4754880" y="4206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Encadré en couleur : module développé pour le projet.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trois facteurs d’authentification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325880"/>
            <a:ext cx="594360" cy="59436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670" y="1474470"/>
            <a:ext cx="297180" cy="2971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7160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client X.509</a:t>
            </a:r>
            <a:endParaRPr lang="en-US" sz="1450" dirty="0"/>
          </a:p>
        </p:txBody>
      </p:sp>
      <p:sp>
        <p:nvSpPr>
          <p:cNvPr id="11" name="Shape 7"/>
          <p:cNvSpPr/>
          <p:nvPr/>
        </p:nvSpPr>
        <p:spPr>
          <a:xfrm>
            <a:off x="640080" y="210312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EDE6FA"/>
          </a:solidFill>
          <a:ln w="12700">
            <a:solidFill>
              <a:srgbClr val="EDE6FA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· le poste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640080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Contrôlé par : </a:t>
            </a:r>
            <a:pPr indent="0" marL="0">
              <a:buNone/>
            </a:pPr>
            <a:r>
              <a:rPr lang="en-US" sz="12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Nginx, puis le module Odoo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 que le poste est autorisé et lié à un compte.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246120" y="118872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29000" y="1325880"/>
            <a:ext cx="594360" cy="59436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7590" y="1474470"/>
            <a:ext cx="297180" cy="2971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16052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450" dirty="0"/>
          </a:p>
        </p:txBody>
      </p:sp>
      <p:sp>
        <p:nvSpPr>
          <p:cNvPr id="19" name="Shape 14"/>
          <p:cNvSpPr/>
          <p:nvPr/>
        </p:nvSpPr>
        <p:spPr>
          <a:xfrm>
            <a:off x="3429000" y="210312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EDE6FA"/>
          </a:solidFill>
          <a:ln w="12700">
            <a:solidFill>
              <a:srgbClr val="EDE6FA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342900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CONNAISSANCE</a:t>
            </a:r>
            <a:endParaRPr lang="en-US" sz="1050" dirty="0"/>
          </a:p>
        </p:txBody>
      </p:sp>
      <p:sp>
        <p:nvSpPr>
          <p:cNvPr id="21" name="Text 16"/>
          <p:cNvSpPr txBox="1"/>
          <p:nvPr/>
        </p:nvSpPr>
        <p:spPr>
          <a:xfrm>
            <a:off x="3429000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Contrôlé par : </a:t>
            </a:r>
            <a:pPr indent="0" marL="0">
              <a:buNone/>
            </a:pPr>
            <a:r>
              <a:rPr lang="en-US" sz="12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(natif)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42900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 que l’utilisateur connaît son secret.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035040" y="1188720"/>
            <a:ext cx="2651760" cy="260604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1325880"/>
            <a:ext cx="594360" cy="59436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6510" y="1474470"/>
            <a:ext cx="297180" cy="29718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6949440" y="132588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TOTP</a:t>
            </a:r>
            <a:endParaRPr lang="en-US" sz="1450" dirty="0"/>
          </a:p>
        </p:txBody>
      </p:sp>
      <p:sp>
        <p:nvSpPr>
          <p:cNvPr id="27" name="Shape 21"/>
          <p:cNvSpPr/>
          <p:nvPr/>
        </p:nvSpPr>
        <p:spPr>
          <a:xfrm>
            <a:off x="6217920" y="2103120"/>
            <a:ext cx="2286000" cy="292608"/>
          </a:xfrm>
          <a:prstGeom prst="roundRect">
            <a:avLst>
              <a:gd name="adj" fmla="val 25000"/>
            </a:avLst>
          </a:prstGeom>
          <a:solidFill>
            <a:srgbClr val="EDE6FA"/>
          </a:solidFill>
          <a:ln w="12700">
            <a:solidFill>
              <a:srgbClr val="EDE6FA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217920" y="21031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POSSESSION · le téléphone</a:t>
            </a:r>
            <a:endParaRPr lang="en-US" sz="1050" dirty="0"/>
          </a:p>
        </p:txBody>
      </p:sp>
      <p:sp>
        <p:nvSpPr>
          <p:cNvPr id="29" name="Text 23"/>
          <p:cNvSpPr txBox="1"/>
          <p:nvPr/>
        </p:nvSpPr>
        <p:spPr>
          <a:xfrm>
            <a:off x="6217920" y="25420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Contrôlé par : </a:t>
            </a:r>
            <a:pPr indent="0" marL="0">
              <a:buNone/>
            </a:pPr>
            <a:r>
              <a:rPr lang="en-US" sz="12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(auth_totp)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21792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Prouve que l’utilisateur détient son second appareil.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57200" y="402336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certificat authentifie le poste, le TOTP authentifie la personne.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œuvre : la PKI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234440"/>
            <a:ext cx="4206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racine « Odoo MFA Root CA » (O=Odoo MFA Lab, OU=PKI, C=TN).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d’émission index.txt et liste de révocation ca.crl.pem.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Clés privées protégées (chmod 600).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dédiés aux tests destructifs.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.p12 pour l’import dans Windows.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937760" y="123444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20640" y="1435608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7800" y="157276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852160" y="136245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samar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585216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 administrateur, certificat principal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4937760" y="233172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120640" y="2532888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6700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852160" y="24597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unknown-user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585216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1001 : certificat valide mais non enregistré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937760" y="3429000"/>
            <a:ext cx="374904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120640" y="3630168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376732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852160" y="35570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test-revocation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852160" y="38862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 1000 : test de révocation PKI réelle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Mise en œuvre : Nginx en mTLS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754880" cy="3337560"/>
          </a:xfrm>
          <a:prstGeom prst="roundRect">
            <a:avLst>
              <a:gd name="adj" fmla="val 2740"/>
            </a:avLst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1371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ssl_client_certificate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7190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 des certificats acceptés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176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ssl_verify_client on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523744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 sans certificat valide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980944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ssl_crl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33284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 révocation prise en compte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3785616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redirection 301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73152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vers HTTPS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0" y="118872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0" y="1371600"/>
            <a:ext cx="502920" cy="5029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010" y="1497330"/>
            <a:ext cx="251460" cy="2514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30936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Identité transmise à Odoo</a:t>
            </a:r>
            <a:endParaRPr lang="en-US" sz="1350" dirty="0"/>
          </a:p>
        </p:txBody>
      </p:sp>
      <p:sp>
        <p:nvSpPr>
          <p:cNvPr id="20" name="Text 16"/>
          <p:cNvSpPr txBox="1"/>
          <p:nvPr/>
        </p:nvSpPr>
        <p:spPr>
          <a:xfrm>
            <a:off x="5669280" y="20116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Vérification, sujet, émetteur et numéro de série du certificat.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0" y="297180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669280" y="3154680"/>
            <a:ext cx="502920" cy="5029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010" y="3280410"/>
            <a:ext cx="251460" cy="25146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3154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Après une révocation</a:t>
            </a:r>
            <a:endParaRPr lang="en-US" sz="1350" dirty="0"/>
          </a:p>
        </p:txBody>
      </p:sp>
      <p:sp>
        <p:nvSpPr>
          <p:cNvPr id="25" name="Text 20"/>
          <p:cNvSpPr txBox="1"/>
          <p:nvPr/>
        </p:nvSpPr>
        <p:spPr>
          <a:xfrm>
            <a:off x="5669280" y="3794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régénérée, puis Nginx rechargé pour qu’il la relise.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module odoo_mfa_certificate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45720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Contenu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Name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 lisible du certificat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Odoo 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propriétaire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active, suspended, revoked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Serial Number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Numéro de série (clé de recherche)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SHA-256 Fingerprint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Empreinte du certificat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 DN, Issuer DN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Sujet et émetteur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From, Valid Until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Période de validité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303520" y="118872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440680" y="1417320"/>
            <a:ext cx="502920" cy="5029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410" y="1543050"/>
            <a:ext cx="251460" cy="2514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080760" y="128016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MFA Security</a:t>
            </a:r>
            <a:endParaRPr lang="en-US" sz="1250" dirty="0"/>
          </a:p>
        </p:txBody>
      </p:sp>
      <p:sp>
        <p:nvSpPr>
          <p:cNvPr id="12" name="Text 7"/>
          <p:cNvSpPr txBox="1"/>
          <p:nvPr/>
        </p:nvSpPr>
        <p:spPr>
          <a:xfrm>
            <a:off x="6080760" y="155448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X.509 Certificates : gestion par les administrateurs.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303520" y="228600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440680" y="2514600"/>
            <a:ext cx="502920" cy="5029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6410" y="2640330"/>
            <a:ext cx="251460" cy="2514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080760" y="23774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/mfa/certificate/status</a:t>
            </a:r>
            <a:endParaRPr lang="en-US" sz="1250" dirty="0"/>
          </a:p>
        </p:txBody>
      </p:sp>
      <p:sp>
        <p:nvSpPr>
          <p:cNvPr id="17" name="Text 11"/>
          <p:cNvSpPr txBox="1"/>
          <p:nvPr/>
        </p:nvSpPr>
        <p:spPr>
          <a:xfrm>
            <a:off x="6080760" y="26517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: mtls, verify, subject, issuer, serial, authorized, reason.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303520" y="3383280"/>
            <a:ext cx="33832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5440680" y="3611880"/>
            <a:ext cx="502920" cy="50292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6410" y="3737610"/>
            <a:ext cx="251460" cy="25146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080760" y="34747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à la connexion</a:t>
            </a:r>
            <a:endParaRPr lang="en-US" sz="1250" dirty="0"/>
          </a:p>
        </p:txBody>
      </p:sp>
      <p:sp>
        <p:nvSpPr>
          <p:cNvPr id="22" name="Text 15"/>
          <p:cNvSpPr txBox="1"/>
          <p:nvPr/>
        </p:nvSpPr>
        <p:spPr>
          <a:xfrm>
            <a:off x="6080760" y="37490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 la chaîne de vérification et journalise chaque refus.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 valide ≠ certificat autorisé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4B3490"/>
          </a:solidFill>
          <a:ln w="12700">
            <a:solidFill>
              <a:srgbClr val="4B349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signé par la CA, non expiré, absent de la CRL (sinon 400).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6032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97480" y="1325880"/>
            <a:ext cx="411480" cy="4114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9748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Série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2697480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 de série recherché dans la table du module.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6344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800600" y="1325880"/>
            <a:ext cx="411480" cy="4114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80060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30352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4800600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L’état doit être « actif ».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766560" y="118872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903720" y="1325880"/>
            <a:ext cx="411480" cy="4114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03720" y="1325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13258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Validité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6903720" y="184708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fin non dépassée.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4360" y="2880360"/>
            <a:ext cx="411480" cy="4114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9436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097280" y="2880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Propriétaire</a:t>
            </a:r>
            <a:endParaRPr lang="en-US" sz="1350" dirty="0"/>
          </a:p>
        </p:txBody>
      </p:sp>
      <p:sp>
        <p:nvSpPr>
          <p:cNvPr id="31" name="Text 28"/>
          <p:cNvSpPr txBox="1"/>
          <p:nvPr/>
        </p:nvSpPr>
        <p:spPr>
          <a:xfrm>
            <a:off x="594360" y="3401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= utilisateur du login saisi.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56032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697480" y="2880360"/>
            <a:ext cx="411480" cy="411480"/>
          </a:xfrm>
          <a:prstGeom prst="ellipse">
            <a:avLst/>
          </a:prstGeom>
          <a:solidFill>
            <a:srgbClr val="C9B3F5"/>
          </a:solidFill>
          <a:ln w="12700">
            <a:solidFill>
              <a:srgbClr val="C9B3F5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69748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3200400" y="2880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</a:t>
            </a:r>
            <a:endParaRPr lang="en-US" sz="1350" dirty="0"/>
          </a:p>
        </p:txBody>
      </p:sp>
      <p:sp>
        <p:nvSpPr>
          <p:cNvPr id="36" name="Text 33"/>
          <p:cNvSpPr txBox="1"/>
          <p:nvPr/>
        </p:nvSpPr>
        <p:spPr>
          <a:xfrm>
            <a:off x="2697480" y="3401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natif d’Odoo.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6344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00600" y="2880360"/>
            <a:ext cx="411480" cy="411480"/>
          </a:xfrm>
          <a:prstGeom prst="ellipse">
            <a:avLst/>
          </a:prstGeom>
          <a:solidFill>
            <a:srgbClr val="C9B3F5"/>
          </a:solidFill>
          <a:ln w="12700">
            <a:solidFill>
              <a:srgbClr val="C9B3F5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800600" y="2880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5303520" y="28803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</a:t>
            </a:r>
            <a:endParaRPr lang="en-US" sz="1350" dirty="0"/>
          </a:p>
        </p:txBody>
      </p:sp>
      <p:sp>
        <p:nvSpPr>
          <p:cNvPr id="41" name="Text 38"/>
          <p:cNvSpPr txBox="1"/>
          <p:nvPr/>
        </p:nvSpPr>
        <p:spPr>
          <a:xfrm>
            <a:off x="4800600" y="3401568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à six chiffres si activé.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766560" y="27432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DDF2E5"/>
          </a:solidFill>
          <a:ln w="19050">
            <a:solidFill>
              <a:srgbClr val="2E8B57"/>
            </a:solidFill>
            <a:prstDash val="solid"/>
          </a:ln>
        </p:spPr>
      </p:sp>
      <p:pic>
        <p:nvPicPr>
          <p:cNvPr id="4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880360"/>
            <a:ext cx="457200" cy="457200"/>
          </a:xfrm>
          <a:prstGeom prst="rect">
            <a:avLst/>
          </a:prstGeom>
        </p:spPr>
      </p:pic>
      <p:sp>
        <p:nvSpPr>
          <p:cNvPr id="44" name="Text 40"/>
          <p:cNvSpPr txBox="1"/>
          <p:nvPr/>
        </p:nvSpPr>
        <p:spPr>
          <a:xfrm>
            <a:off x="6766560" y="347472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autorisé</a:t>
            </a:r>
            <a:endParaRPr lang="en-US" sz="1400" dirty="0"/>
          </a:p>
        </p:txBody>
      </p:sp>
      <p:sp>
        <p:nvSpPr>
          <p:cNvPr id="45" name="Shape 41"/>
          <p:cNvSpPr/>
          <p:nvPr/>
        </p:nvSpPr>
        <p:spPr>
          <a:xfrm>
            <a:off x="457200" y="4370832"/>
            <a:ext cx="164592" cy="164592"/>
          </a:xfrm>
          <a:prstGeom prst="ellipse">
            <a:avLst/>
          </a:prstGeom>
          <a:solidFill>
            <a:srgbClr val="4B3490"/>
          </a:solidFill>
          <a:ln w="12700">
            <a:solidFill>
              <a:srgbClr val="4B3490"/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713232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2743200" y="4370832"/>
            <a:ext cx="164592" cy="164592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2999232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Odoo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5029200" y="4370832"/>
            <a:ext cx="164592" cy="164592"/>
          </a:xfrm>
          <a:prstGeom prst="ellipse">
            <a:avLst/>
          </a:prstGeom>
          <a:solidFill>
            <a:srgbClr val="C9B3F5"/>
          </a:solidFill>
          <a:ln w="12700">
            <a:solidFill>
              <a:srgbClr val="C9B3F5"/>
            </a:solidFill>
            <a:prstDash val="solid"/>
          </a:ln>
        </p:spPr>
      </p:sp>
      <p:sp>
        <p:nvSpPr>
          <p:cNvPr id="50" name="Text 46"/>
          <p:cNvSpPr txBox="1"/>
          <p:nvPr/>
        </p:nvSpPr>
        <p:spPr>
          <a:xfrm>
            <a:off x="5285232" y="43159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Odoo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Causes de refus et messages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 du refus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affiché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Série inconnue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is not registered in Odoo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suspendu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status is suspended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État révoqué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status is revoked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de fin dépassée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has expired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 d’un autre utilisateur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Certificate does not belong to this Odoo 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message est précédé de « MFA authentication failed : ». Chaque refus est inscrit au journal d’Odoo avec le login, la série et la raison.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Activation du TOTP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97280" y="132588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4859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4864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Préférences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9436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Activer l’authentification à deux facteurs.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2377440" y="2194560"/>
            <a:ext cx="182880" cy="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13" name="Shape 9"/>
          <p:cNvSpPr/>
          <p:nvPr/>
        </p:nvSpPr>
        <p:spPr>
          <a:xfrm>
            <a:off x="2560320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00400" y="132588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0420" y="14859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65176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QR code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269748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scanner avec une application d’authentification.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480560" y="2194560"/>
            <a:ext cx="182880" cy="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4663440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303520" y="132588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3540" y="14859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5488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Premier code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80060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: « 2-Factor authentication is now enabled ».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583680" y="2194560"/>
            <a:ext cx="182880" cy="0"/>
          </a:xfrm>
          <a:prstGeom prst="line">
            <a:avLst/>
          </a:prstGeom>
          <a:noFill/>
          <a:ln w="22225">
            <a:solidFill>
              <a:srgbClr val="6B6385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6766560" y="1188720"/>
            <a:ext cx="1920240" cy="20116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406640" y="1325880"/>
            <a:ext cx="640080" cy="64008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66660" y="148590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685800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Connexion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6903720" y="24688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connexion passe par la page /web/login/totp.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457200" y="35204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FF1CC"/>
          </a:solidFill>
          <a:ln w="15875">
            <a:solidFill>
              <a:srgbClr val="E0A10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749040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1371600" y="3611880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d’attention : </a:t>
            </a:r>
            <a:pPr indent="0" marL="0">
              <a:buNone/>
            </a:pPr>
            <a:r>
              <a:rPr lang="en-US" sz="13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case « Don’t ask again on this device » supprime la demande de code. À laisser décochée en démonstration.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et validation : 16 scénarios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743200" cy="3200400"/>
          </a:xfrm>
          <a:prstGeom prst="roundRect">
            <a:avLst>
              <a:gd name="adj" fmla="val 4000"/>
            </a:avLst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137160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80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432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scénarios, tous conformes au résultat attendu, refus compris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74720" y="118872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657600" y="1389888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52704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34840" y="131673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certificat (Nginx)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1691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T1, T2, T3, T8, T14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474720" y="228600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657600" y="2487168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62432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34840" y="241401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MFA d’Odoo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434840" y="27889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T4, T5, T6, T7, T9, T10, T13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474720" y="3383280"/>
            <a:ext cx="5212080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657600" y="3584448"/>
            <a:ext cx="548640" cy="54864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72160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434840" y="35112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 de passe et TOTP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4434840" y="38862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T11, T12, T15, T16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3474720" y="44622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Preuves : curl, navigateur, base PostgreSQL, journal du conteneur Odoo.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du facteur certificat (Nginx)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480560"/>
                <a:gridCol w="10058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observé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 Sans certificat client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« No required SSL certificate was sent 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T2 Certificat valide (curl)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 vers /odoo, cookie de session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T3 Chrome sous Windows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Fenêtre de sélection du certificat « samar 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T8 Révocation PKI réelle (série 1000)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openssl : erreur 23 « certificate revoked », puis Nginx 400 « The SSL certificate error 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T14 HTTP vers HTTPS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301 vers HTTPS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7B5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Redirigé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: facteur certificat (1/2)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: 400 « No required SSL certificate was sent »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certificat client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3756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333756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avec certificat : 303 vers /odoo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324612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valide (curl)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10312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12648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612648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Fenêtre de sélection du certificat « samar »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603504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sous Windows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cadre en pointillés par votre capture (Insertion › Images), puis supprimez le texte d’aide.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: facteur certificat (2/2)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07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openssl verify : OK avant, erreur 23 après, puis Nginx 400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T8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Révocation PKI réelle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2807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curl -I : 301 avec l’en-tête Location en https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T14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vers HTTPS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cadre en pointillés par votre capture (Insertion › Images), puis supprimez le texte d’aide.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du module MFA d’Odoo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023360"/>
                <a:gridCol w="1005840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observé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T4 Point /mfa/certificate/status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mtls true, verify SUCCESS, sujet, émetteur, série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5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 Certificat enregistré en base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Utilisateur 2, état active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B5E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6F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 Certificat suspendu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Certificate status is suspended », 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T7 Certificat révoqué dans Odoo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Certificate status is revoked 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T9 Valide mais non enregistré (1001)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Certificate is not registered in Odoo »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T10 Certificat d’un autre utilisateur (6 ≠ 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Certificate does not belong to this Odoo user », 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T13 Date de fin dépassée (simulée en base)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Certificate has expired », 403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: module MFA d’Odoo (1/3)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07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JSON : mtls true, verify SUCCESS, sujet, émetteur, série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T4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/mfa/certificate/status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2807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: ligne de mfa_user_certificate, utilisateur 2, état active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T5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enregistré en base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cadre en pointillés par votre capture (Insertion › Images), puis supprimez le texte d’aide.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: module MFA d’Odoo (2/3)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07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Suspended, message de refus et journal (403)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T6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suspendu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75488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4754880" y="2807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Revoked et message « Certificate status is revoked »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466344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T7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révoqué dans Odoo</a:t>
            </a:r>
            <a:endParaRPr lang="en-US" sz="115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cadre en pointillés par votre capture (Insertion › Images), puis supprimez le texte d’aide.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: module MFA d’Odoo (3/3)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303, puis « Certificate is not registered in Odoo »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T9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mais non enregistré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3756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333756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« does not belong to this Odoo user » et journal 403 (6 ≠ 2)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324612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d’un autre utilisateur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10312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12648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612648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de valid_until en base, puis « Certificate has expired »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603504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fin dépassée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cadre en pointillés par votre capture (Insertion › Images), puis supprimez le texte d’aide.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Tests du mot de passe et du TOTP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023360"/>
                <a:gridCol w="1097280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Résultat observé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 Bon certificat, mauvais mot de passe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Wrong login/password 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T12 Bon certificat, bon mot de passe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 puis 200, page des applications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5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T15 TOTP activé, mauvais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 Verification failed, please double-check the 6-digit code »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ED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T16 Utilisateur sans privilèges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Connexion acceptée, interface vide : aucun droit supplémentaire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Accès limité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2E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: mot de passe et TOTP (1/2)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1912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Wrong login/password » et journal « Login failed »</a:t>
            </a:r>
            <a:endParaRPr lang="en-US" sz="950" dirty="0"/>
          </a:p>
        </p:txBody>
      </p:sp>
      <p:sp>
        <p:nvSpPr>
          <p:cNvPr id="11" name="Text 7"/>
          <p:cNvSpPr txBox="1"/>
          <p:nvPr/>
        </p:nvSpPr>
        <p:spPr>
          <a:xfrm>
            <a:off x="45720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T11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 mot de passe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324612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10312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33756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5" name="Text 10"/>
          <p:cNvSpPr txBox="1"/>
          <p:nvPr/>
        </p:nvSpPr>
        <p:spPr>
          <a:xfrm>
            <a:off x="333756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des applications d’Odoo après 303 puis 200</a:t>
            </a:r>
            <a:endParaRPr lang="en-US" sz="950" dirty="0"/>
          </a:p>
        </p:txBody>
      </p:sp>
      <p:sp>
        <p:nvSpPr>
          <p:cNvPr id="16" name="Text 11"/>
          <p:cNvSpPr txBox="1"/>
          <p:nvPr/>
        </p:nvSpPr>
        <p:spPr>
          <a:xfrm>
            <a:off x="324612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mot de passe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6035040" y="118872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9752" y="2103120"/>
            <a:ext cx="402336" cy="40233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126480" y="25786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20" name="Text 14"/>
          <p:cNvSpPr txBox="1"/>
          <p:nvPr/>
        </p:nvSpPr>
        <p:spPr>
          <a:xfrm>
            <a:off x="6126480" y="2807208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code, message d’activation, puis « Verification failed »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6035040" y="39867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: activation, mauvais code</a:t>
            </a:r>
            <a:endParaRPr lang="en-US" sz="115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cadre en pointillés par votre capture (Insertion › Images), puis supprimez le texte d’aide.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Captures : mot de passe et TOTP (2/2)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1CC"/>
          </a:solidFill>
          <a:ln w="19050">
            <a:solidFill>
              <a:srgbClr val="E0A100"/>
            </a:solidFill>
            <a:prstDash val="dash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2" y="2103120"/>
            <a:ext cx="402336" cy="40233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réaliser : connexion complète avec le bon code TOTP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45720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T15b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code TOTP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663440" y="1188720"/>
            <a:ext cx="40233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7B5EC4"/>
            </a:solidFill>
            <a:prstDash val="dash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103120"/>
            <a:ext cx="402336" cy="40233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754880" y="257860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Espace capture</a:t>
            </a:r>
            <a:endParaRPr lang="en-US" sz="1050" dirty="0"/>
          </a:p>
        </p:txBody>
      </p:sp>
      <p:sp>
        <p:nvSpPr>
          <p:cNvPr id="14" name="Text 9"/>
          <p:cNvSpPr txBox="1"/>
          <p:nvPr/>
        </p:nvSpPr>
        <p:spPr>
          <a:xfrm>
            <a:off x="4754880" y="2807208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vide et journal « Login successful » (cert-test)</a:t>
            </a:r>
            <a:endParaRPr lang="en-US" sz="950" dirty="0"/>
          </a:p>
        </p:txBody>
      </p:sp>
      <p:sp>
        <p:nvSpPr>
          <p:cNvPr id="15" name="Text 10"/>
          <p:cNvSpPr txBox="1"/>
          <p:nvPr/>
        </p:nvSpPr>
        <p:spPr>
          <a:xfrm>
            <a:off x="4663440" y="398678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T16  </a:t>
            </a:r>
            <a:pPr indent="0" marL="0">
              <a:buNone/>
            </a:pPr>
            <a:r>
              <a:rPr lang="en-US" sz="11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 sans privilèges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Remplacez chaque cadre en pointillés par votre capture (Insertion › Images), puis supprimez le texte d’aide.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 ne veut pas dire autorisé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143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5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« unknown-user » (série 1001)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DDF2E5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636776"/>
            <a:ext cx="310896" cy="31089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51560" y="1554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Signé par la CA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57200" y="212140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DDF2E5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203704"/>
            <a:ext cx="310896" cy="31089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51560" y="2121408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expiré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457200" y="2688336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DDF2E5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77063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1051560" y="2688336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de la CRL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457200" y="3255264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DDF2E5"/>
          </a:solidFill>
          <a:ln w="12700">
            <a:solidFill>
              <a:srgbClr val="2E8B5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37560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051560" y="3255264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Accepté par Nginx (mTLS réussi)</a:t>
            </a:r>
            <a:endParaRPr lang="en-US" sz="1400" dirty="0"/>
          </a:p>
        </p:txBody>
      </p:sp>
      <p:sp>
        <p:nvSpPr>
          <p:cNvPr id="20" name="Shape 13"/>
          <p:cNvSpPr/>
          <p:nvPr/>
        </p:nvSpPr>
        <p:spPr>
          <a:xfrm>
            <a:off x="457200" y="3822192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F8DEDA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904488"/>
            <a:ext cx="310896" cy="31089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051560" y="3822192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enregistré dans Odoo : accès refusé</a:t>
            </a:r>
            <a:endParaRPr lang="en-US" sz="1400" dirty="0"/>
          </a:p>
        </p:txBody>
      </p:sp>
      <p:sp>
        <p:nvSpPr>
          <p:cNvPr id="23" name="Shape 15"/>
          <p:cNvSpPr/>
          <p:nvPr/>
        </p:nvSpPr>
        <p:spPr>
          <a:xfrm>
            <a:off x="5669280" y="1188720"/>
            <a:ext cx="3017520" cy="3200400"/>
          </a:xfrm>
          <a:prstGeom prst="roundRect">
            <a:avLst>
              <a:gd name="adj" fmla="val 3636"/>
            </a:avLst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5897880" y="1371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Variante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5897880" y="17830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enregistré pour l’utilisateur 6, utilisé pour se connecter en administrateur (utilisateur 2).</a:t>
            </a:r>
            <a:endParaRPr lang="en-US" sz="1350" dirty="0"/>
          </a:p>
        </p:txBody>
      </p:sp>
      <p:sp>
        <p:nvSpPr>
          <p:cNvPr id="26" name="Text 18"/>
          <p:cNvSpPr txBox="1"/>
          <p:nvPr/>
        </p:nvSpPr>
        <p:spPr>
          <a:xfrm>
            <a:off x="5669280" y="31546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≠ 2</a:t>
            </a:r>
            <a:endParaRPr lang="en-US" sz="3600" dirty="0"/>
          </a:p>
        </p:txBody>
      </p:sp>
      <p:sp>
        <p:nvSpPr>
          <p:cNvPr id="27" name="Text 19"/>
          <p:cNvSpPr txBox="1"/>
          <p:nvPr/>
        </p:nvSpPr>
        <p:spPr>
          <a:xfrm>
            <a:off x="5669280" y="37947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DE6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refusé (403)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Conformité ISO/IEC 27001:2022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383280"/>
                <a:gridCol w="1737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Contrôle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Mesure mise en œuvre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EC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A.8.5 Authentification sécurisée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Certificat, mot de passe, TOTP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T1, T11, T12, T15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A.5.15 Contrôle d’accès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 enregistré et actif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T6, T7, T9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A.5.16 Gestion des identités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certificat lié à un seul compte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T5, T10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A.5.17 Informations d’authentification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 de passe Odoo, secret TOTP personnel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T11, T15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A.5.18 Droits d’accès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Suspension, révocation, expiration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T6, T7, T8, T13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A.8.2 Droits d’accès privilégiés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Compte sans privilèges : aucune application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A.8.15 Journalisation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série et raison au journal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T6, T10, T11, T13, T16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A.8.24 Cryptographie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PKI interne, TLS, CRL, HTTPS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B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T1, T8, T14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1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B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risques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4572000" cy="3337560"/>
          </a:xfrm>
          <a:prstGeom prst="roundRect">
            <a:avLst>
              <a:gd name="adj" fmla="val 2740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129844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7B5E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constatées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737360"/>
            <a:ext cx="4114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TOTP reste facultatif dans Odoo Community : sans TOTP, deux facteurs seulement.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L’expiration est simulée dans la base (T13).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révocations indépendantes : CRL de la PKI et état dans Odoo.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et serveur sur la même machine : acceptable en laboratoire.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03520" y="1188720"/>
            <a:ext cx="3383280" cy="3337560"/>
          </a:xfrm>
          <a:prstGeom prst="roundRect">
            <a:avLst>
              <a:gd name="adj" fmla="val 2740"/>
            </a:avLst>
          </a:prstGeom>
          <a:solidFill>
            <a:srgbClr val="FFF1CC"/>
          </a:solidFill>
          <a:ln w="9525">
            <a:solidFill>
              <a:srgbClr val="E0A1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532120" y="129844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 à maîtriser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173736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ne doit accepter l’identité du certificat que si elle vient de Nginx : port Odoo non joignable, en-têtes réécrits.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CRL à régénérer et Nginx à recharger après chaque révocation.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6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498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Améliorations proposées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pour Odoo · certificats X.509 et TOTP · Samar Souid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480060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243584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" y="1357884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118872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obligatoire</a:t>
            </a:r>
            <a:endParaRPr lang="en-US" sz="1450" dirty="0"/>
          </a:p>
        </p:txBody>
      </p:sp>
      <p:sp>
        <p:nvSpPr>
          <p:cNvPr id="11" name="Text 7"/>
          <p:cNvSpPr txBox="1"/>
          <p:nvPr/>
        </p:nvSpPr>
        <p:spPr>
          <a:xfrm>
            <a:off x="4389120" y="118872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supplémentaire dans le module.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1847088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94360" y="1901952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" y="2016252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80160" y="184708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WebAuthn / FIDO2</a:t>
            </a:r>
            <a:endParaRPr lang="en-US" sz="1450" dirty="0"/>
          </a:p>
        </p:txBody>
      </p:sp>
      <p:sp>
        <p:nvSpPr>
          <p:cNvPr id="16" name="Text 11"/>
          <p:cNvSpPr txBox="1"/>
          <p:nvPr/>
        </p:nvSpPr>
        <p:spPr>
          <a:xfrm>
            <a:off x="4389120" y="184708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facteur résistant à l’hameçonnage.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7200" y="2505456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94360" y="2560320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" y="2674620"/>
            <a:ext cx="228600" cy="2286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80160" y="250545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OCSP ou CRL automatique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4389120" y="250545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Odoo synchronisé avec la PKI.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457200" y="3163824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94360" y="3218688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" y="3332988"/>
            <a:ext cx="228600" cy="2286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280160" y="316382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hors ligne ou HSM</a:t>
            </a:r>
            <a:endParaRPr lang="en-US" sz="1450" dirty="0"/>
          </a:p>
        </p:txBody>
      </p:sp>
      <p:sp>
        <p:nvSpPr>
          <p:cNvPr id="26" name="Text 19"/>
          <p:cNvSpPr txBox="1"/>
          <p:nvPr/>
        </p:nvSpPr>
        <p:spPr>
          <a:xfrm>
            <a:off x="4389120" y="316382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Protéger la clé de l’autorité.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57200" y="3822192"/>
            <a:ext cx="822960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9525">
            <a:solidFill>
              <a:srgbClr val="DCD1F2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594360" y="3877056"/>
            <a:ext cx="457200" cy="457200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8660" y="3991356"/>
            <a:ext cx="228600" cy="2286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280160" y="38221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Renouvellement automatique</a:t>
            </a:r>
            <a:endParaRPr lang="en-US" sz="1450" dirty="0"/>
          </a:p>
        </p:txBody>
      </p:sp>
      <p:sp>
        <p:nvSpPr>
          <p:cNvPr id="31" name="Text 23"/>
          <p:cNvSpPr txBox="1"/>
          <p:nvPr/>
        </p:nvSpPr>
        <p:spPr>
          <a:xfrm>
            <a:off x="4389120" y="382219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renouvelés avant leur expiration.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E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01752"/>
            <a:ext cx="566928" cy="566928"/>
          </a:xfrm>
          <a:prstGeom prst="ellipse">
            <a:avLst/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" y="443484"/>
            <a:ext cx="283464" cy="2834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188720" y="256032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530352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CD1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37160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à Odoo conditionné par trois facteurs : certificat X.509, mot de passe, code TOTP.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 séparées : PKI et Nginx pour la cryptographie, module Odoo pour l’autorisation.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défaillance est refusée et tracée dans les journaux.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 TOTP obligatoire, FIDO2, OCSP, CA hors ligne.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035040" y="118872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035040" y="128016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16/16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6035040" y="21488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conformes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035040" y="2926080"/>
            <a:ext cx="2651760" cy="1554480"/>
          </a:xfrm>
          <a:prstGeom prst="roundRect">
            <a:avLst>
              <a:gd name="adj" fmla="val 7059"/>
            </a:avLst>
          </a:prstGeom>
          <a:solidFill>
            <a:srgbClr val="7B5EC4"/>
          </a:solidFill>
          <a:ln w="12700">
            <a:solidFill>
              <a:srgbClr val="7B5EC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035040" y="30175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6035040" y="3886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contrôles ISO 27001 couverts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E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841248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DCD1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777240"/>
            <a:ext cx="1463040" cy="1463040"/>
          </a:xfrm>
          <a:prstGeom prst="ellipse">
            <a:avLst/>
          </a:prstGeom>
          <a:solidFill>
            <a:srgbClr val="7B5EC4"/>
          </a:solidFill>
          <a:ln w="25400">
            <a:solidFill>
              <a:srgbClr val="C9B3F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1188720"/>
            <a:ext cx="640080" cy="6400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2468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votre attention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3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3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Samar Souid · Tek-Up · CII-5-J-SSIRF-D · 2026-2027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Authentification forte (MFA) dans un SMSI : Odoo avec certificats X.509 et TOTP</dc:title>
  <dc:subject>PptxGenJS Presentation</dc:subject>
  <dc:creator>Samar Souid</dc:creator>
  <cp:lastModifiedBy>Samar Souid</cp:lastModifiedBy>
  <cp:revision>1</cp:revision>
  <dcterms:created xsi:type="dcterms:W3CDTF">2026-10-01T22:22:56Z</dcterms:created>
  <dcterms:modified xsi:type="dcterms:W3CDTF">2026-10-01T22:22:56Z</dcterms:modified>
</cp:coreProperties>
</file>